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691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332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06B6D4"/>
                </a:solidFill>
              </a:defRPr>
            </a:pPr>
            <a:r>
              <a:t>INSTITUTO DE INTELIGÊNCIA ARTIFICIAL APLICADA (I2A2)</a:t>
            </a:r>
          </a:p>
          <a:p>
            <a:pPr>
              <a:spcAft>
                <a:spcPts val="1000"/>
              </a:spcAft>
              <a:defRPr sz="4400" b="1">
                <a:solidFill>
                  <a:srgbClr val="F8FAFC"/>
                </a:solidFill>
              </a:defRPr>
            </a:pPr>
            <a:r>
              <a:t>InsurMinds Apólice 360</a:t>
            </a:r>
          </a:p>
          <a:p>
            <a:pPr>
              <a:spcAft>
                <a:spcPts val="3000"/>
              </a:spcAft>
              <a:defRPr sz="1800">
                <a:solidFill>
                  <a:srgbClr val="0EA5E9"/>
                </a:solidFill>
              </a:defRPr>
            </a:pPr>
            <a:r>
              <a:t>Plataforma Inteligente para Análise, Extração e Comparação de Apólices D&amp;O com IA Generativa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Projeto Final de Conclusão de Curso • Módulo Avançado em IA Generativa • Setembro/2026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CONTEXTO &amp; PROBLEMA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O Desafio Crítico no Mercado de Seguros D&amp;O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291840" cy="38404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2926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EA5E9"/>
                </a:solidFill>
              </a:defRPr>
            </a:pPr>
            <a:r>
              <a:t>Documentos Extensos e Jurídicos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Contratos com 40 a 100 páginas de texto hermético, onde detalhes em cláusulas de exclusão definem o patrimônio do executivo.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2011680"/>
            <a:ext cx="3291840" cy="38404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480560" y="2286000"/>
            <a:ext cx="2926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06B6D4"/>
                </a:solidFill>
              </a:defRPr>
            </a:pPr>
            <a:r>
              <a:t>Processo Manual e Lento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Comparar 2 ou 3 apólices exige até 20 horas de especialistas sêniores, gerando gargalos para corretoras e risco moral.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2011680"/>
            <a:ext cx="3291840" cy="38404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0" y="2286000"/>
            <a:ext cx="2926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10B981"/>
                </a:solidFill>
              </a:defRPr>
            </a:pPr>
            <a:r>
              <a:t>Gaps de Proteção Ocultos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Assimetrias críticas em franquias (POS), penhora online e investigações prévias CVM/CADE passam despercebidas até o sinistro.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PROPOSTA DE VALOR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A Solução: InsurMinds Apólice 360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4206240"/>
          </a:xfrm>
          <a:prstGeom prst="roundRect">
            <a:avLst/>
          </a:prstGeom>
          <a:solidFill>
            <a:srgbClr val="162032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06B6D4"/>
                </a:solidFill>
              </a:defRPr>
            </a:pPr>
            <a:r>
              <a:t>Automação Completa do Ciclo de Análise Securitária com IA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1. Ingestão Híbrida Inteligente: Processa arquivos PDF digitais e escaneados com OCR e rastreamento de paginação.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2. Extração Semântica Especializada: Mapeia LMG, sublimites, POS/franquias, coberturas e exclusões em segundos.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3. Auditoria Regulatória SUSEP: Validação algorítmica de consistência baseada na Circular SUSEP 553/2017.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4. Comparador Multidimensional: Matriz de divergências lado a lado, radar de score e detecção imediata de gaps.</a:t>
            </a:r>
          </a:p>
          <a:p>
            <a:pPr>
              <a:spcAft>
                <a:spcPts val="800"/>
              </a:spcAft>
              <a:defRPr sz="1400">
                <a:solidFill>
                  <a:srgbClr val="F8FAFC"/>
                </a:solidFill>
              </a:defRPr>
            </a:pPr>
            <a:r>
              <a:t>5. Consultor Securitário RAG: Chat com IA respondendo dúvidas complexas com citação exata de cláusulas e páginas.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ENGENHARIA DE 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Arquitetura Multiagente de Alta Coesão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7772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755648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EA5E9"/>
                </a:solidFill>
              </a:defRPr>
            </a:pPr>
            <a:r>
              <a:t>Ingestion Agent: </a:t>
            </a:r>
            <a:r>
              <a:rPr sz="1300" b="0">
                <a:solidFill>
                  <a:srgbClr val="F8FAFC"/>
                </a:solidFill>
              </a:rPr>
              <a:t>Recebe documentos, executa parsing PyMuPDF e aciona OCR Tesseract em imagens.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560320"/>
            <a:ext cx="10698480" cy="7772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2670048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6B6D4"/>
                </a:solidFill>
              </a:defRPr>
            </a:pPr>
            <a:r>
              <a:t>Extraction Agent: </a:t>
            </a:r>
            <a:r>
              <a:rPr sz="1300" b="0">
                <a:solidFill>
                  <a:srgbClr val="F8FAFC"/>
                </a:solidFill>
              </a:rPr>
              <a:t>Aplica LLM para estruturar entidades D&amp;O em esquemas Pydantic tipados.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474720"/>
            <a:ext cx="10698480" cy="7772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584448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0B981"/>
                </a:solidFill>
              </a:defRPr>
            </a:pPr>
            <a:r>
              <a:t>Validation Agent: </a:t>
            </a:r>
            <a:r>
              <a:rPr sz="1300" b="0">
                <a:solidFill>
                  <a:srgbClr val="F8FAFC"/>
                </a:solidFill>
              </a:rPr>
              <a:t>Audita limites vs sublimites, datas e gera score de confiança da extração.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89120"/>
            <a:ext cx="10698480" cy="7772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4498848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8B5CF6"/>
                </a:solidFill>
              </a:defRPr>
            </a:pPr>
            <a:r>
              <a:t>Comparison Agent: </a:t>
            </a:r>
            <a:r>
              <a:rPr sz="1300" b="0">
                <a:solidFill>
                  <a:srgbClr val="F8FAFC"/>
                </a:solidFill>
              </a:rPr>
              <a:t>Cruza contratos, computa scores de proteção e formula veredito executivo.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10698480" cy="777240"/>
          </a:xfrm>
          <a:prstGeom prst="roundRect">
            <a:avLst/>
          </a:prstGeom>
          <a:solidFill>
            <a:srgbClr val="162032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5413248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43F5E"/>
                </a:solidFill>
              </a:defRPr>
            </a:pPr>
            <a:r>
              <a:t>Q&amp;A Consultant: </a:t>
            </a:r>
            <a:r>
              <a:rPr sz="1300" b="0">
                <a:solidFill>
                  <a:srgbClr val="F8FAFC"/>
                </a:solidFill>
              </a:rPr>
              <a:t>Responde a perguntas e litígios citando cláusulas e jurisprudência securitária.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RESULTADOS DO MVP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Demonstração Prática: Confronto de Apólices Reais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0EA5E9"/>
                </a:solidFill>
              </a:defRPr>
            </a:pPr>
            <a:r>
              <a:t>Porto Seguro D&amp;O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LMG: R$ 10.000.000,00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• Foco em litígios cíveis/trabalhistas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• Sublimite Penhora: R$ 2,5M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• Franquia PF: R$ 0,00 (Isento)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• Score de Proteção: 74/100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291840" cy="411480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480560" y="210312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06B6D4"/>
                </a:solidFill>
              </a:defRPr>
            </a:pPr>
            <a:r>
              <a:t>Chubb Corporate Plus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LMG: R$ 25.000.000,00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• Extensão CVM/CADE (R$ 7,5M)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• Penhora Online: R$ 6,25M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• Gestão de Crise de Imagem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• Score de Proteção: 86/100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46720" y="2103120"/>
            <a:ext cx="29260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 b="1">
                <a:solidFill>
                  <a:srgbClr val="10B981"/>
                </a:solidFill>
              </a:defRPr>
            </a:pPr>
            <a:r>
              <a:t>Tokio Marine Elite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LMG: R$ 50.000.000,00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• Cobertura Mundial com SEC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• Penhora Online até 100% LMG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• Práticas Trabalhistas (EPL)</a:t>
            </a:r>
          </a:p>
          <a:p>
            <a:pPr>
              <a:spcAft>
                <a:spcPts val="400"/>
              </a:spcAft>
              <a:defRPr sz="1250">
                <a:solidFill>
                  <a:srgbClr val="F8FAFC"/>
                </a:solidFill>
              </a:defRPr>
            </a:pPr>
            <a:r>
              <a:t>• Score de Proteção: 96/100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</a:defRPr>
            </a:pPr>
            <a:r>
              <a:t>VIABILIDADE &amp; NEGÓCIOS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Diferenciais Competitivos &amp; Mercado Alvo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4114800"/>
          </a:xfrm>
          <a:prstGeom prst="roundRect">
            <a:avLst/>
          </a:prstGeom>
          <a:solidFill>
            <a:srgbClr val="162032"/>
          </a:solidFill>
          <a:ln>
            <a:solidFill>
              <a:srgbClr val="0EA5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103120"/>
            <a:ext cx="10058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6B6D4"/>
                </a:solidFill>
              </a:defRPr>
            </a:pPr>
            <a:r>
              <a:t>Inovação Tecnológica com Impacto Direto de Negócio</a:t>
            </a:r>
          </a:p>
          <a:p>
            <a:pPr>
              <a:spcAft>
                <a:spcPts val="800"/>
              </a:spcAft>
              <a:defRPr sz="1350">
                <a:solidFill>
                  <a:srgbClr val="F8FAFC"/>
                </a:solidFill>
              </a:defRPr>
            </a:pPr>
            <a:r>
              <a:t>• Redução de 95% no Tempo de Análise: De 20 horas de estudo manual para menos de 60 segundos de processamento.</a:t>
            </a:r>
          </a:p>
          <a:p>
            <a:pPr>
              <a:spcAft>
                <a:spcPts val="800"/>
              </a:spcAft>
              <a:defRPr sz="1350">
                <a:solidFill>
                  <a:srgbClr val="F8FAFC"/>
                </a:solidFill>
              </a:defRPr>
            </a:pPr>
            <a:r>
              <a:t>• Motor Resiliente com Fallback Offline: Nunca falha, garantindo disponibilidade mesmo sob restrições de chaves de API.</a:t>
            </a:r>
          </a:p>
          <a:p>
            <a:pPr>
              <a:spcAft>
                <a:spcPts val="800"/>
              </a:spcAft>
              <a:defRPr sz="1350">
                <a:solidFill>
                  <a:srgbClr val="F8FAFC"/>
                </a:solidFill>
              </a:defRPr>
            </a:pPr>
            <a:r>
              <a:t>• Público Alvo Imediato: Corretoras de Grandes Riscos Corporativos, Departamentos Jurídicos de Empresas S.A. e Fundos de PE/VC.</a:t>
            </a:r>
          </a:p>
          <a:p>
            <a:pPr>
              <a:spcAft>
                <a:spcPts val="800"/>
              </a:spcAft>
              <a:defRPr sz="1350">
                <a:solidFill>
                  <a:srgbClr val="F8FAFC"/>
                </a:solidFill>
              </a:defRPr>
            </a:pPr>
            <a:r>
              <a:t>• Modelo de Receita (SaaS B2B): Assinatura recorrente mensal com créditos de análise por apólice e relatórios em PDF.</a:t>
            </a:r>
          </a:p>
          <a:p>
            <a:pPr>
              <a:spcAft>
                <a:spcPts val="800"/>
              </a:spcAft>
              <a:defRPr sz="1350">
                <a:solidFill>
                  <a:srgbClr val="F8FAFC"/>
                </a:solidFill>
              </a:defRPr>
            </a:pPr>
            <a:r>
              <a:t>• Conformidade SUSEP: Totalmente alinhado às diretrizes regulatórias e termos padrão do mercado securitário brasileiro.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F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332720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4000" b="1">
                <a:solidFill>
                  <a:srgbClr val="06B6D4"/>
                </a:solidFill>
              </a:defRPr>
            </a:pPr>
            <a:r>
              <a:rPr dirty="0" err="1"/>
              <a:t>InsurMinds</a:t>
            </a:r>
            <a:r>
              <a:rPr dirty="0"/>
              <a:t> </a:t>
            </a:r>
            <a:r>
              <a:rPr dirty="0" err="1"/>
              <a:t>Apólice</a:t>
            </a:r>
            <a:r>
              <a:rPr dirty="0"/>
              <a:t> 360</a:t>
            </a:r>
          </a:p>
          <a:p>
            <a:pPr>
              <a:spcAft>
                <a:spcPts val="2400"/>
              </a:spcAft>
              <a:defRPr sz="1800">
                <a:solidFill>
                  <a:srgbClr val="F8FAFC"/>
                </a:solidFill>
              </a:defRPr>
            </a:pPr>
            <a:r>
              <a:rPr dirty="0"/>
              <a:t>A IA </a:t>
            </a:r>
            <a:r>
              <a:rPr dirty="0" err="1"/>
              <a:t>Generativa</a:t>
            </a:r>
            <a:r>
              <a:rPr dirty="0"/>
              <a:t> </a:t>
            </a:r>
            <a:r>
              <a:rPr dirty="0" err="1"/>
              <a:t>transformando</a:t>
            </a:r>
            <a:r>
              <a:rPr dirty="0"/>
              <a:t> a </a:t>
            </a:r>
            <a:r>
              <a:rPr dirty="0" err="1"/>
              <a:t>inteligência</a:t>
            </a:r>
            <a:r>
              <a:rPr dirty="0"/>
              <a:t> e a </a:t>
            </a:r>
            <a:r>
              <a:rPr dirty="0" err="1"/>
              <a:t>segurança</a:t>
            </a:r>
            <a:r>
              <a:rPr dirty="0"/>
              <a:t> </a:t>
            </a:r>
            <a:r>
              <a:rPr dirty="0" err="1"/>
              <a:t>jurídica</a:t>
            </a:r>
            <a:r>
              <a:rPr dirty="0"/>
              <a:t> </a:t>
            </a:r>
            <a:r>
              <a:rPr dirty="0" err="1"/>
              <a:t>nas</a:t>
            </a:r>
            <a:r>
              <a:rPr dirty="0"/>
              <a:t> </a:t>
            </a:r>
            <a:r>
              <a:rPr dirty="0" err="1"/>
              <a:t>decisões</a:t>
            </a:r>
            <a:r>
              <a:rPr dirty="0"/>
              <a:t> de </a:t>
            </a:r>
            <a:r>
              <a:rPr dirty="0" err="1"/>
              <a:t>gestão</a:t>
            </a:r>
            <a:r>
              <a:rPr dirty="0"/>
              <a:t> </a:t>
            </a:r>
            <a:r>
              <a:rPr dirty="0" err="1"/>
              <a:t>corporativa</a:t>
            </a:r>
            <a:r>
              <a:rPr dirty="0"/>
              <a:t>.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rPr dirty="0"/>
              <a:t>Obrigado! • </a:t>
            </a:r>
            <a:r>
              <a:rPr dirty="0" err="1"/>
              <a:t>Projeto</a:t>
            </a:r>
            <a:r>
              <a:rPr dirty="0"/>
              <a:t> Final do </a:t>
            </a:r>
            <a:r>
              <a:rPr dirty="0" err="1"/>
              <a:t>Instituto</a:t>
            </a:r>
            <a:r>
              <a:rPr dirty="0"/>
              <a:t> de </a:t>
            </a:r>
            <a:r>
              <a:rPr dirty="0" err="1"/>
              <a:t>Inteligência</a:t>
            </a:r>
            <a:r>
              <a:rPr dirty="0"/>
              <a:t> Artificial </a:t>
            </a:r>
            <a:r>
              <a:rPr dirty="0" err="1"/>
              <a:t>Aplicada</a:t>
            </a:r>
            <a:r>
              <a:rPr dirty="0"/>
              <a:t> (I2A2</a:t>
            </a:r>
            <a:r>
              <a:rPr dirty="0" smtClean="0"/>
              <a:t>)</a:t>
            </a:r>
            <a:endParaRPr lang="pt-BR" dirty="0" smtClean="0"/>
          </a:p>
          <a:p>
            <a:pPr>
              <a:defRPr sz="1400">
                <a:solidFill>
                  <a:srgbClr val="94A3B8"/>
                </a:solidFill>
              </a:defRPr>
            </a:pPr>
            <a:endParaRPr lang="pt-BR" dirty="0" smtClean="0"/>
          </a:p>
          <a:p>
            <a:pPr>
              <a:defRPr sz="1400">
                <a:solidFill>
                  <a:srgbClr val="94A3B8"/>
                </a:solidFill>
              </a:defRPr>
            </a:pPr>
            <a:endParaRPr lang="pt-BR" dirty="0" smtClean="0"/>
          </a:p>
          <a:p>
            <a:pPr>
              <a:defRPr sz="1400">
                <a:solidFill>
                  <a:srgbClr val="94A3B8"/>
                </a:solidFill>
              </a:defRPr>
            </a:pPr>
            <a:endParaRPr lang="pt-BR" dirty="0"/>
          </a:p>
          <a:p>
            <a:pPr algn="ctr">
              <a:defRPr sz="1400">
                <a:solidFill>
                  <a:srgbClr val="94A3B8"/>
                </a:solidFill>
              </a:defRPr>
            </a:pPr>
            <a:r>
              <a:rPr lang="pt-BR" sz="2000" b="1" dirty="0" smtClean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Diogo David Macêdo Sena</a:t>
            </a:r>
          </a:p>
          <a:p>
            <a:pPr algn="ctr">
              <a:defRPr sz="1400">
                <a:solidFill>
                  <a:srgbClr val="94A3B8"/>
                </a:solidFill>
              </a:defRPr>
            </a:pPr>
            <a:r>
              <a:rPr lang="pt-BR" sz="20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Líder Técnico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endParaRPr sz="20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593</Words>
  <Application>Microsoft Office PowerPoint</Application>
  <PresentationFormat>Widescreen</PresentationFormat>
  <Paragraphs>63</Paragraphs>
  <Slides>7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Diogo Sena</cp:lastModifiedBy>
  <cp:revision>2</cp:revision>
  <dcterms:created xsi:type="dcterms:W3CDTF">2013-01-27T09:14:16Z</dcterms:created>
  <dcterms:modified xsi:type="dcterms:W3CDTF">2026-10-07T00:06:53Z</dcterms:modified>
  <cp:category/>
</cp:coreProperties>
</file>