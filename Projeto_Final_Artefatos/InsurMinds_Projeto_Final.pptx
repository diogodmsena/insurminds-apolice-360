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6B6D4"/>
                </a:solidFill>
              </a:defRPr>
            </a:pPr>
            <a:r>
              <a:t>INSTITUTO DE INTELIGÊNCIA ARTIFICIAL APLICADA (I2A2)</a:t>
            </a:r>
          </a:p>
          <a:p>
            <a:pPr>
              <a:spcAft>
                <a:spcPts val="1000"/>
              </a:spcAft>
              <a:defRPr sz="4400" b="1">
                <a:solidFill>
                  <a:srgbClr val="F8FAFC"/>
                </a:solidFill>
              </a:defRPr>
            </a:pPr>
            <a:r>
              <a:t>InsurMinds Apólice 360</a:t>
            </a:r>
          </a:p>
          <a:p>
            <a:pPr>
              <a:spcAft>
                <a:spcPts val="3000"/>
              </a:spcAft>
              <a:defRPr sz="1800">
                <a:solidFill>
                  <a:srgbClr val="0EA5E9"/>
                </a:solidFill>
              </a:defRPr>
            </a:pPr>
            <a:r>
              <a:t>Plataforma Inteligente para Análise, Extração e Comparação de Apólices D&amp;O com IA Generativa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Projeto Final de Conclusão de Curso • Módulo Avançado em IA Generativa • Setembro/2026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CONTEXTO &amp;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O Desafio Crítico no Mercado de Seguros D&amp;O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8404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EA5E9"/>
                </a:solidFill>
              </a:defRPr>
            </a:pPr>
            <a:r>
              <a:t>Documentos Extensos e Jurídicos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Contratos com 40 a 100 páginas de texto hermético, onde detalhes em cláusulas de exclusão definem o patrimônio do executivo.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11680"/>
            <a:ext cx="3291840" cy="38404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228600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6B6D4"/>
                </a:solidFill>
              </a:defRPr>
            </a:pPr>
            <a:r>
              <a:t>Processo Manual e Lento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Comparar 2 ou 3 apólices exige até 20 horas de especialistas sêniores, gerando gargalos para corretoras e risco moral.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011680"/>
            <a:ext cx="3291840" cy="38404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28600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Gaps de Proteção Ocultos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Assimetrias críticas em franquias (POS), penhora online e investigações prévias CVM/CADE passam despercebidas até o sinistro.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PROPOSTA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 Solução: InsurMinds Apólice 360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206240"/>
          </a:xfrm>
          <a:prstGeom prst="roundRect">
            <a:avLst/>
          </a:prstGeom>
          <a:solidFill>
            <a:srgbClr val="1620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6B6D4"/>
                </a:solidFill>
              </a:defRPr>
            </a:pPr>
            <a:r>
              <a:t>Automação Completa do Ciclo de Análise Securitária com IA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1. Ingestão Híbrida Inteligente: Processa arquivos PDF digitais e escaneados com OCR e rastreamento de paginação.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2. Extração Semântica Especializada: Mapeia LMG, sublimites, POS/franquias, coberturas e exclusões em segundos.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3. Auditoria Regulatória SUSEP: Validação algorítmica de consistência baseada na Circular SUSEP 553/2017.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4. Comparador Multidimensional: Matriz de divergências lado a lado, radar de score e detecção imediata de gaps.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5. Consultor Securitário RAG: Chat com IA respondendo dúvidas complexas com citação exata de cláusulas e páginas.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ENGENHARIA DE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Arquitetura Multiagente de Alta Coesão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Ingestion Agent: </a:t>
            </a:r>
            <a:r>
              <a:rPr sz="1300" b="0">
                <a:solidFill>
                  <a:srgbClr val="F8FAFC"/>
                </a:solidFill>
              </a:rPr>
              <a:t>Recebe documentos, executa parsing PyMuPDF e aciona OCR Tesseract em imagens.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70048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Extraction Agent: </a:t>
            </a:r>
            <a:r>
              <a:rPr sz="1300" b="0">
                <a:solidFill>
                  <a:srgbClr val="F8FAFC"/>
                </a:solidFill>
              </a:rPr>
              <a:t>Aplica LLM para estruturar entidades D&amp;O em esquemas Pydantic tipados.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84448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Validation Agent: </a:t>
            </a:r>
            <a:r>
              <a:rPr sz="1300" b="0">
                <a:solidFill>
                  <a:srgbClr val="F8FAFC"/>
                </a:solidFill>
              </a:rPr>
              <a:t>Audita limites vs sublimites, datas e gera score de confiança da extração.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98848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Comparison Agent: </a:t>
            </a:r>
            <a:r>
              <a:rPr sz="1300" b="0">
                <a:solidFill>
                  <a:srgbClr val="F8FAFC"/>
                </a:solidFill>
              </a:rPr>
              <a:t>Cruza contratos, computa scores de proteção e formula veredito executivo.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13248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Q&amp;A Consultant: </a:t>
            </a:r>
            <a:r>
              <a:rPr sz="1300" b="0">
                <a:solidFill>
                  <a:srgbClr val="F8FAFC"/>
                </a:solidFill>
              </a:rPr>
              <a:t>Responde a perguntas e litígios citando cláusulas e jurisprudência securitária.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RESULTADOS DO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Demonstração Prática: Confronto de Apólices Reais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EA5E9"/>
                </a:solidFill>
              </a:defRPr>
            </a:pPr>
            <a:r>
              <a:t>Porto Seguro D&amp;O</a:t>
            </a:r>
          </a:p>
          <a:p>
            <a:pPr>
              <a:spcAft>
                <a:spcPts val="400"/>
              </a:spcAft>
              <a:defRPr sz="1250">
                <a:solidFill>
                  <a:srgbClr val="F8FAFC"/>
                </a:solidFill>
              </a:defRPr>
            </a:pPr>
            <a:r>
              <a:t>LMG: R$ 10.000.000,00</a:t>
            </a:r>
          </a:p>
          <a:p>
            <a:pPr>
              <a:spcAft>
                <a:spcPts val="400"/>
              </a:spcAft>
              <a:defRPr sz="1250">
                <a:solidFill>
                  <a:srgbClr val="F8FAFC"/>
                </a:solidFill>
              </a:defRPr>
            </a:pPr>
            <a:r>
              <a:t>• Foco em litígios cíveis/trabalhistas</a:t>
            </a:r>
          </a:p>
          <a:p>
            <a:pPr>
              <a:spcAft>
                <a:spcPts val="400"/>
              </a:spcAft>
              <a:defRPr sz="1250">
                <a:solidFill>
                  <a:srgbClr val="F8FAFC"/>
                </a:solidFill>
              </a:defRPr>
            </a:pPr>
            <a:r>
              <a:t>• Sublimite Penhora: R$ 2,5M</a:t>
            </a:r>
          </a:p>
          <a:p>
            <a:pPr>
              <a:spcAft>
                <a:spcPts val="400"/>
              </a:spcAft>
              <a:defRPr sz="1250">
                <a:solidFill>
                  <a:srgbClr val="F8FAFC"/>
                </a:solidFill>
              </a:defRPr>
            </a:pPr>
            <a:r>
              <a:t>• Franquia PF: R$ 0,00 (Isento)</a:t>
            </a:r>
          </a:p>
          <a:p>
            <a:pPr>
              <a:spcAft>
                <a:spcPts val="400"/>
              </a:spcAft>
              <a:defRPr sz="1250">
                <a:solidFill>
                  <a:srgbClr val="F8FAFC"/>
                </a:solidFill>
              </a:defRPr>
            </a:pPr>
            <a:r>
              <a:t>• Score de Proteção: 74/100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291840" cy="411480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210312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Chubb Corporate Plus</a:t>
            </a:r>
          </a:p>
          <a:p>
            <a:pPr>
              <a:spcAft>
                <a:spcPts val="400"/>
              </a:spcAft>
              <a:defRPr sz="1250">
                <a:solidFill>
                  <a:srgbClr val="F8FAFC"/>
                </a:solidFill>
              </a:defRPr>
            </a:pPr>
            <a:r>
              <a:t>LMG: R$ 25.000.000,00</a:t>
            </a:r>
          </a:p>
          <a:p>
            <a:pPr>
              <a:spcAft>
                <a:spcPts val="400"/>
              </a:spcAft>
              <a:defRPr sz="1250">
                <a:solidFill>
                  <a:srgbClr val="F8FAFC"/>
                </a:solidFill>
              </a:defRPr>
            </a:pPr>
            <a:r>
              <a:t>• Extensão CVM/CADE (R$ 7,5M)</a:t>
            </a:r>
          </a:p>
          <a:p>
            <a:pPr>
              <a:spcAft>
                <a:spcPts val="400"/>
              </a:spcAft>
              <a:defRPr sz="1250">
                <a:solidFill>
                  <a:srgbClr val="F8FAFC"/>
                </a:solidFill>
              </a:defRPr>
            </a:pPr>
            <a:r>
              <a:t>• Penhora Online: R$ 6,25M</a:t>
            </a:r>
          </a:p>
          <a:p>
            <a:pPr>
              <a:spcAft>
                <a:spcPts val="400"/>
              </a:spcAft>
              <a:defRPr sz="1250">
                <a:solidFill>
                  <a:srgbClr val="F8FAFC"/>
                </a:solidFill>
              </a:defRPr>
            </a:pPr>
            <a:r>
              <a:t>• Gestão de Crise de Imagem</a:t>
            </a:r>
          </a:p>
          <a:p>
            <a:pPr>
              <a:spcAft>
                <a:spcPts val="400"/>
              </a:spcAft>
              <a:defRPr sz="1250">
                <a:solidFill>
                  <a:srgbClr val="F8FAFC"/>
                </a:solidFill>
              </a:defRPr>
            </a:pPr>
            <a:r>
              <a:t>• Score de Proteção: 86/100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291840" cy="411480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10312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Tokio Marine Elite</a:t>
            </a:r>
          </a:p>
          <a:p>
            <a:pPr>
              <a:spcAft>
                <a:spcPts val="400"/>
              </a:spcAft>
              <a:defRPr sz="1250">
                <a:solidFill>
                  <a:srgbClr val="F8FAFC"/>
                </a:solidFill>
              </a:defRPr>
            </a:pPr>
            <a:r>
              <a:t>LMG: R$ 50.000.000,00</a:t>
            </a:r>
          </a:p>
          <a:p>
            <a:pPr>
              <a:spcAft>
                <a:spcPts val="400"/>
              </a:spcAft>
              <a:defRPr sz="1250">
                <a:solidFill>
                  <a:srgbClr val="F8FAFC"/>
                </a:solidFill>
              </a:defRPr>
            </a:pPr>
            <a:r>
              <a:t>• Cobertura Mundial com SEC</a:t>
            </a:r>
          </a:p>
          <a:p>
            <a:pPr>
              <a:spcAft>
                <a:spcPts val="400"/>
              </a:spcAft>
              <a:defRPr sz="1250">
                <a:solidFill>
                  <a:srgbClr val="F8FAFC"/>
                </a:solidFill>
              </a:defRPr>
            </a:pPr>
            <a:r>
              <a:t>• Penhora Online até 100% LMG</a:t>
            </a:r>
          </a:p>
          <a:p>
            <a:pPr>
              <a:spcAft>
                <a:spcPts val="400"/>
              </a:spcAft>
              <a:defRPr sz="1250">
                <a:solidFill>
                  <a:srgbClr val="F8FAFC"/>
                </a:solidFill>
              </a:defRPr>
            </a:pPr>
            <a:r>
              <a:t>• Práticas Trabalhistas (EPL)</a:t>
            </a:r>
          </a:p>
          <a:p>
            <a:pPr>
              <a:spcAft>
                <a:spcPts val="400"/>
              </a:spcAft>
              <a:defRPr sz="1250">
                <a:solidFill>
                  <a:srgbClr val="F8FAFC"/>
                </a:solidFill>
              </a:defRPr>
            </a:pPr>
            <a:r>
              <a:t>• Score de Proteção: 96/100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VIABILIDADE &amp; NEGÓCIOS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Diferenciais Competitivos &amp; Mercado Alvo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114800"/>
          </a:xfrm>
          <a:prstGeom prst="roundRect">
            <a:avLst/>
          </a:prstGeom>
          <a:solidFill>
            <a:srgbClr val="162032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6B6D4"/>
                </a:solidFill>
              </a:defRPr>
            </a:pPr>
            <a:r>
              <a:t>Inovação Tecnológica com Impacto Direto de Negócio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Redução de 95% no Tempo de Análise: De 20 horas de estudo manual para menos de 60 segundos de processamento.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Motor Resiliente com Fallback Offline: Nunca falha, garantindo disponibilidade mesmo sob restrições de chaves de API.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Público Alvo Imediato: Corretoras de Grandes Riscos Corporativos, Departamentos Jurídicos de Empresas S.A. e Fundos de PE/VC.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Modelo de Receita (SaaS B2B): Assinatura recorrente mensal com créditos de análise por apólice e relatórios em PDF.</a:t>
            </a:r>
          </a:p>
          <a:p>
            <a:pPr>
              <a:spcAft>
                <a:spcPts val="800"/>
              </a:spcAft>
              <a:defRPr sz="1350">
                <a:solidFill>
                  <a:srgbClr val="F8FAFC"/>
                </a:solidFill>
              </a:defRPr>
            </a:pPr>
            <a:r>
              <a:t>• Conformidade SUSEP: Totalmente alinhado às diretrizes regulatórias e termos padrão do mercado securitário brasileiro.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06B6D4"/>
                </a:solidFill>
              </a:defRPr>
            </a:pPr>
            <a:r>
              <a:t>InsurMinds Apólice 360</a:t>
            </a:r>
          </a:p>
          <a:p>
            <a:pPr>
              <a:spcAft>
                <a:spcPts val="2400"/>
              </a:spcAft>
              <a:defRPr sz="1800">
                <a:solidFill>
                  <a:srgbClr val="F8FAFC"/>
                </a:solidFill>
              </a:defRPr>
            </a:pPr>
            <a:r>
              <a:t>A IA Generativa transformando a inteligência e a segurança jurídica nas decisões de gestão corporativa.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Obrigado! • Projeto Final do Instituto de Inteligência Artificial Aplicada (I2A2)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